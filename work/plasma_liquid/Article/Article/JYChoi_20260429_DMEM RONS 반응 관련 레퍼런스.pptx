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9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F2D58-7E2F-32FA-0D6E-2ADA1C42C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218829-59D8-5EA8-3EBD-F5DDF5FBA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32945D-6E67-1337-CEFB-501C15B3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CDB169-5F27-2CDA-0FCC-D828918E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50D561-C61D-51DA-814F-5990C992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27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7D95BC-7140-3BDD-5AE2-18121ED0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60A3C4-06F5-9779-FEEE-1B6A491E2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7A6ED4-912A-EA13-C821-C4E172A2B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4B293-CC7A-6397-E96A-D021A2C1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70BA5E-3951-3939-8CC1-60835D41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66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CC4F0-FA46-AAD7-2580-810679E4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9C45C3-2719-772A-16F6-9FD6C36D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C304F-FC6B-0E3D-D2B0-AC4602B7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56D693-8EC6-463B-C92E-CA0F3002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01DF0E-2B15-1C83-729A-A6A30CCF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0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AF169-5982-76CB-8200-5D574F88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19F9BF-911A-4D36-3598-50549AA26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A17B8E-392C-8538-2FD8-CA232CC8E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90AEBF-40D4-3687-037A-C1D45145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C11DCF-C945-D6C1-789C-AD2C8C5C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7C5BC-1E3D-7241-B05D-2CC7BBA5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3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3390C-E4CB-61FB-1F94-32559817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C3D446-B33A-F108-2D2A-47C69567B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FD51C2-7584-A78C-1247-99893A27F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40897D-7B5F-99DF-59EA-4C781BA9C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372C4A-B30B-1CC8-F869-A44EF2DD6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CBC712-B880-8C79-C762-949B09C6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293570-FC08-C783-F104-1E9125C8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578B6D-BD09-1249-8D9A-DFB92888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7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92274-5490-7308-7DC7-42439300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515AC8-1F25-583D-2200-0B117803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092C37-FB34-7334-D400-05471732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FC7B8C-47E5-85EE-E10C-B6E6C5BB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48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45CF7B-3A7A-A278-D131-23602F26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02D95E-5D07-ACD8-80BA-333BA9A3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2586C-1526-3511-52CC-55DE7F0A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82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1C3D8-4FF9-1E4F-C8BF-164CD43DA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828960-6393-0AA9-49BC-FC1B3727F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B20EE4-06BE-2A53-51B1-045822701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7117E9-0013-9D5F-B3CE-BBC1CA3C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156658-B692-33ED-1A22-C91E0A95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E518D2-2F52-67F3-E049-370B4D4F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68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41CBB-9B85-9852-0D9C-050BFA68A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17E88F-46E8-6025-CE24-73AE12194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2384C3-C68D-2BD1-4A31-C65BA5DBA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61FCF7-B006-C90D-4EB1-291A801A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F4E8C9-2103-848D-D7E6-1A6B3491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467755-3575-CE19-EFE0-56AE90F2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43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0CDF5-31DE-6AB0-ADC5-6F62EE5E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498C21-5C81-F9D2-74AA-881842E47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DF0E9A-89E7-D160-60E4-C1DFD951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4BD2E-A6A9-9C56-A6C8-A3D7B7F6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4C41AE-C861-6E98-CF70-D5453D19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94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BB799B-6529-ACB0-A75D-AA15DE952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BD0711-79ED-B73E-6E75-5CB5E80A3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56500-867D-70B9-9DA7-0A2B32D8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21B0F3-1A60-E307-364E-F0411997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560EAD-00E9-1B6D-E5E9-57DC3263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467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대각선 방향 모서리 42">
            <a:extLst>
              <a:ext uri="{FF2B5EF4-FFF2-40B4-BE49-F238E27FC236}">
                <a16:creationId xmlns:a16="http://schemas.microsoft.com/office/drawing/2014/main" id="{2CE64D32-AD98-4397-8692-A9351E7F10B9}"/>
              </a:ext>
            </a:extLst>
          </p:cNvPr>
          <p:cNvSpPr/>
          <p:nvPr userDrawn="1"/>
        </p:nvSpPr>
        <p:spPr>
          <a:xfrm flipH="1">
            <a:off x="6307303" y="-3558"/>
            <a:ext cx="5884696" cy="863304"/>
          </a:xfrm>
          <a:prstGeom prst="round2DiagRect">
            <a:avLst>
              <a:gd name="adj1" fmla="val 0"/>
              <a:gd name="adj2" fmla="val 31179"/>
            </a:avLst>
          </a:prstGeom>
          <a:gradFill>
            <a:gsLst>
              <a:gs pos="0">
                <a:srgbClr val="71BF44"/>
              </a:gs>
              <a:gs pos="100000">
                <a:srgbClr val="71B2C1"/>
              </a:gs>
            </a:gsLst>
            <a:lin ang="1800000" scaled="0"/>
          </a:gradFill>
          <a:ln>
            <a:noFill/>
          </a:ln>
          <a:effectLst>
            <a:outerShdw blurRad="228600" dist="152400" dir="10800000" algn="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633"/>
          </a:p>
        </p:txBody>
      </p:sp>
      <p:pic>
        <p:nvPicPr>
          <p:cNvPr id="44" name="그림 43" descr="어둠, 우주, 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1213AB-11B9-4E9B-A542-F4DE93D43C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68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457"/>
          <a:stretch>
            <a:fillRect/>
          </a:stretch>
        </p:blipFill>
        <p:spPr>
          <a:xfrm>
            <a:off x="3505551" y="-3558"/>
            <a:ext cx="7509262" cy="86330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83F931-DEA8-413A-A523-6CC88F1F180A}"/>
              </a:ext>
            </a:extLst>
          </p:cNvPr>
          <p:cNvSpPr/>
          <p:nvPr/>
        </p:nvSpPr>
        <p:spPr>
          <a:xfrm flipH="1">
            <a:off x="-1" y="0"/>
            <a:ext cx="6096000" cy="933218"/>
          </a:xfrm>
          <a:prstGeom prst="rect">
            <a:avLst/>
          </a:prstGeom>
          <a:gradFill>
            <a:gsLst>
              <a:gs pos="0">
                <a:srgbClr val="F5FB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CE4C5CC0-ADF5-437B-B47F-2DE06BD4D2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51148"/>
          <a:stretch/>
        </p:blipFill>
        <p:spPr>
          <a:xfrm>
            <a:off x="5395680" y="-26879"/>
            <a:ext cx="1592501" cy="61892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857DEFBE-40E8-4122-9B9B-77E162623B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 bright="100000"/>
          </a:blip>
          <a:stretch>
            <a:fillRect/>
          </a:stretch>
        </p:blipFill>
        <p:spPr>
          <a:xfrm>
            <a:off x="10464800" y="275842"/>
            <a:ext cx="1350533" cy="203265"/>
          </a:xfrm>
          <a:prstGeom prst="rect">
            <a:avLst/>
          </a:prstGeom>
        </p:spPr>
      </p:pic>
      <p:sp>
        <p:nvSpPr>
          <p:cNvPr id="34" name="사각형: 둥근 한쪽 모서리 33">
            <a:extLst>
              <a:ext uri="{FF2B5EF4-FFF2-40B4-BE49-F238E27FC236}">
                <a16:creationId xmlns:a16="http://schemas.microsoft.com/office/drawing/2014/main" id="{6CD42FDF-05B4-494C-91FA-7C0A5D017C28}"/>
              </a:ext>
            </a:extLst>
          </p:cNvPr>
          <p:cNvSpPr/>
          <p:nvPr/>
        </p:nvSpPr>
        <p:spPr>
          <a:xfrm>
            <a:off x="1" y="800406"/>
            <a:ext cx="12192000" cy="6057595"/>
          </a:xfrm>
          <a:prstGeom prst="round1Rect">
            <a:avLst>
              <a:gd name="adj" fmla="val 4777"/>
            </a:avLst>
          </a:prstGeom>
          <a:solidFill>
            <a:schemeClr val="bg1"/>
          </a:solidFill>
          <a:ln w="3175">
            <a:solidFill>
              <a:srgbClr val="7FBE25">
                <a:alpha val="60000"/>
              </a:srgbClr>
            </a:solidFill>
          </a:ln>
          <a:effectLst>
            <a:outerShdw blurRad="228600" dist="63500" dir="13500000" algn="b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33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AD7CE13-153E-4F60-8621-133CB982AFC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53000"/>
          </a:blip>
          <a:srcRect l="4153" r="6190"/>
          <a:stretch/>
        </p:blipFill>
        <p:spPr>
          <a:xfrm>
            <a:off x="0" y="798507"/>
            <a:ext cx="12192000" cy="6059494"/>
          </a:xfrm>
          <a:prstGeom prst="round1Rect">
            <a:avLst>
              <a:gd name="adj" fmla="val 7576"/>
            </a:avLst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E9227986-F0AB-423C-B8CB-9DFBC93DE5A8}"/>
              </a:ext>
            </a:extLst>
          </p:cNvPr>
          <p:cNvSpPr/>
          <p:nvPr userDrawn="1"/>
        </p:nvSpPr>
        <p:spPr>
          <a:xfrm>
            <a:off x="1" y="-1"/>
            <a:ext cx="284373" cy="794295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/>
          </a:p>
        </p:txBody>
      </p:sp>
      <p:sp>
        <p:nvSpPr>
          <p:cNvPr id="37" name="사각형: 둥근 대각선 방향 모서리 36">
            <a:extLst>
              <a:ext uri="{FF2B5EF4-FFF2-40B4-BE49-F238E27FC236}">
                <a16:creationId xmlns:a16="http://schemas.microsoft.com/office/drawing/2014/main" id="{AC83DB11-A2DF-40D1-9E68-B803C440A1A0}"/>
              </a:ext>
            </a:extLst>
          </p:cNvPr>
          <p:cNvSpPr/>
          <p:nvPr/>
        </p:nvSpPr>
        <p:spPr>
          <a:xfrm>
            <a:off x="55474" y="78116"/>
            <a:ext cx="588061" cy="553236"/>
          </a:xfrm>
          <a:prstGeom prst="round2DiagRect">
            <a:avLst>
              <a:gd name="adj1" fmla="val 0"/>
              <a:gd name="adj2" fmla="val 31958"/>
            </a:avLst>
          </a:prstGeom>
          <a:solidFill>
            <a:srgbClr val="71BF44"/>
          </a:solidFill>
          <a:ln w="28575">
            <a:noFill/>
          </a:ln>
          <a:effectLst>
            <a:outerShdw blurRad="76200" dist="38100" dir="13500000" algn="b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defTabSz="414772" latinLnBrk="0"/>
            <a:endParaRPr lang="ko-KR" altLang="en-US" sz="1814" spc="-64" dirty="0">
              <a:solidFill>
                <a:srgbClr val="09459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CB7B0F-3015-46EA-AB7B-335B1B3CBB7B}"/>
              </a:ext>
            </a:extLst>
          </p:cNvPr>
          <p:cNvSpPr txBox="1"/>
          <p:nvPr/>
        </p:nvSpPr>
        <p:spPr>
          <a:xfrm>
            <a:off x="11709817" y="6582208"/>
            <a:ext cx="211030" cy="125547"/>
          </a:xfrm>
          <a:prstGeom prst="rect">
            <a:avLst/>
          </a:prstGeom>
          <a:noFill/>
        </p:spPr>
        <p:txBody>
          <a:bodyPr wrap="none" lIns="65315" tIns="0" rIns="65315" bIns="0" rtlCol="0" anchor="ctr">
            <a:spAutoFit/>
          </a:bodyPr>
          <a:lstStyle/>
          <a:p>
            <a:pPr algn="ctr"/>
            <a:fld id="{9405539E-90D7-4AF8-A7AD-A7F4863668DB}" type="slidenum">
              <a:rPr lang="en-US" altLang="ko-KR" sz="816" spc="-136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D6E7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sz="454" spc="-13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6D6E7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A11A1F-9341-42C6-99B4-4B456B1F9F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6"/>
          <a:stretch/>
        </p:blipFill>
        <p:spPr>
          <a:xfrm>
            <a:off x="7165126" y="-7462"/>
            <a:ext cx="3246558" cy="973139"/>
          </a:xfrm>
          <a:prstGeom prst="rect">
            <a:avLst/>
          </a:prstGeom>
        </p:spPr>
      </p:pic>
      <p:sp>
        <p:nvSpPr>
          <p:cNvPr id="39" name="사각형: 둥근 대각선 방향 모서리 38">
            <a:extLst>
              <a:ext uri="{FF2B5EF4-FFF2-40B4-BE49-F238E27FC236}">
                <a16:creationId xmlns:a16="http://schemas.microsoft.com/office/drawing/2014/main" id="{A311AB6E-4918-4CCD-BEF8-51F3C3A05F52}"/>
              </a:ext>
            </a:extLst>
          </p:cNvPr>
          <p:cNvSpPr/>
          <p:nvPr/>
        </p:nvSpPr>
        <p:spPr>
          <a:xfrm>
            <a:off x="497703" y="360826"/>
            <a:ext cx="7688864" cy="44619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 w="22225">
            <a:solidFill>
              <a:srgbClr val="71BF44"/>
            </a:solidFill>
          </a:ln>
          <a:effectLst>
            <a:outerShdw blurRad="76200" dist="63500" dir="96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26577" bIns="0" rtlCol="0" anchor="ctr" anchorCtr="0"/>
          <a:lstStyle/>
          <a:p>
            <a:pPr defTabSz="414772" latinLnBrk="0"/>
            <a:endParaRPr lang="ko-KR" altLang="en-US" sz="1814" spc="-64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26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8C51BD-86D4-88BB-2523-19724BC4D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C44ACC-1072-AFF6-9359-4F48EFB5A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810A1-E1D5-0B86-1439-707AD8BAC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0AB79-5A4A-4B85-8233-3AA3CDFE7C1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8F807-6A7C-8FA4-5A9B-158C34BB1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7BEDC4-EEDF-A7D3-183C-833E6DE12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57214-9683-4BC7-8C8C-A1DED1B180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69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3">
            <a:extLst>
              <a:ext uri="{FF2B5EF4-FFF2-40B4-BE49-F238E27FC236}">
                <a16:creationId xmlns:a16="http://schemas.microsoft.com/office/drawing/2014/main" id="{7D15ABA0-E229-1C9B-B327-47C5A108CA4D}"/>
              </a:ext>
            </a:extLst>
          </p:cNvPr>
          <p:cNvSpPr txBox="1">
            <a:spLocks/>
          </p:cNvSpPr>
          <p:nvPr/>
        </p:nvSpPr>
        <p:spPr>
          <a:xfrm>
            <a:off x="680994" y="392945"/>
            <a:ext cx="7206747" cy="389646"/>
          </a:xfrm>
          <a:prstGeom prst="rect">
            <a:avLst/>
          </a:prstGeom>
        </p:spPr>
        <p:txBody>
          <a:bodyPr vert="horz" lIns="81644" tIns="0" rIns="0" bIns="0" rtlCol="0" anchor="ctr" anchorCtr="0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2000" b="1" kern="1200" spc="-110" baseline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14" spc="-136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DMEM </a:t>
            </a:r>
            <a:r>
              <a:rPr lang="ko-KR" altLang="en-US" sz="1814" spc="-136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관련 반응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76BC6-CC0B-8407-9D0B-046F7AC612CD}"/>
              </a:ext>
            </a:extLst>
          </p:cNvPr>
          <p:cNvSpPr txBox="1"/>
          <p:nvPr/>
        </p:nvSpPr>
        <p:spPr>
          <a:xfrm>
            <a:off x="783494" y="880114"/>
            <a:ext cx="987180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8" indent="-182568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DMEM + RONS</a:t>
            </a:r>
            <a:endParaRPr lang="ko-KR" altLang="en-US" sz="20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B2D92-67AB-6714-7C0B-7FF134F00C59}"/>
              </a:ext>
            </a:extLst>
          </p:cNvPr>
          <p:cNvSpPr txBox="1"/>
          <p:nvPr/>
        </p:nvSpPr>
        <p:spPr>
          <a:xfrm>
            <a:off x="988380" y="1407179"/>
            <a:ext cx="7350005" cy="73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93" indent="-179393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§"/>
            </a:pP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세포 실험 배양액으로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DMEM (12800017, Gibco) 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사용</a:t>
            </a:r>
            <a:endParaRPr lang="en-US" altLang="ko-KR" sz="14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j-ea"/>
              <a:ea typeface="+mj-ea"/>
            </a:endParaRPr>
          </a:p>
          <a:p>
            <a:pPr marL="179393" indent="-179393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DMEM – high glucose, L-</a:t>
            </a:r>
            <a:r>
              <a:rPr lang="en-US" altLang="ko-KR" sz="14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glutamin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, phenol red, sodium pyruvate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A07717-3A01-43B3-6D11-654EE37D612D}"/>
              </a:ext>
            </a:extLst>
          </p:cNvPr>
          <p:cNvSpPr txBox="1"/>
          <p:nvPr/>
        </p:nvSpPr>
        <p:spPr>
          <a:xfrm>
            <a:off x="988380" y="2181283"/>
            <a:ext cx="7350005" cy="1097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</a:pPr>
            <a:r>
              <a:rPr lang="en-US" altLang="ko-KR" sz="1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[Pyruvate </a:t>
            </a:r>
            <a:r>
              <a:rPr lang="ko-KR" altLang="en-US" sz="1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관련 반응</a:t>
            </a:r>
            <a:r>
              <a:rPr lang="en-US" altLang="ko-KR" sz="1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]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[1-3]</a:t>
            </a:r>
          </a:p>
          <a:p>
            <a:pPr marL="179393" indent="-179393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Pyruvate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는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ROS scavenger – 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세포 내에서 항산화 작용을 함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(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비효소적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반응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)</a:t>
            </a:r>
          </a:p>
          <a:p>
            <a:pPr marL="179393" indent="-179393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Pyruvate (CH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3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COCOO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-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) + H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O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→ acetate (CH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3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COO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-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) + CO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+ H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O (k = 2.36 M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-1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s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-1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3BEDDA3-E123-09BE-D603-B211077F562D}"/>
              </a:ext>
            </a:extLst>
          </p:cNvPr>
          <p:cNvGrpSpPr/>
          <p:nvPr/>
        </p:nvGrpSpPr>
        <p:grpSpPr>
          <a:xfrm>
            <a:off x="8445337" y="831035"/>
            <a:ext cx="3518186" cy="4258105"/>
            <a:chOff x="8338385" y="1497941"/>
            <a:chExt cx="3518186" cy="4258105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4E13537-E146-6A60-D1CD-1FF9DDFEA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38385" y="1774940"/>
              <a:ext cx="3518186" cy="398110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BBCABD6-8326-DB99-2CD5-94847A8322CB}"/>
                </a:ext>
              </a:extLst>
            </p:cNvPr>
            <p:cNvSpPr txBox="1"/>
            <p:nvPr/>
          </p:nvSpPr>
          <p:spPr>
            <a:xfrm>
              <a:off x="9300080" y="1497941"/>
              <a:ext cx="15947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[ DMEM formulation ]</a:t>
              </a:r>
              <a:endParaRPr lang="ko-KR" altLang="en-US" sz="1200" b="1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805FB0A-4A09-C455-5F9A-52EA0872346E}"/>
              </a:ext>
            </a:extLst>
          </p:cNvPr>
          <p:cNvSpPr txBox="1"/>
          <p:nvPr/>
        </p:nvSpPr>
        <p:spPr>
          <a:xfrm>
            <a:off x="988380" y="4091129"/>
            <a:ext cx="7350005" cy="73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</a:pPr>
            <a:r>
              <a:rPr lang="en-US" altLang="ko-KR" sz="1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[</a:t>
            </a:r>
            <a:r>
              <a:rPr lang="ko-KR" altLang="en-US" sz="1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기타</a:t>
            </a:r>
            <a:r>
              <a:rPr lang="en-US" altLang="ko-KR" sz="1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]</a:t>
            </a:r>
          </a:p>
          <a:p>
            <a:pPr marL="179393" indent="-179393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Glucose, L-</a:t>
            </a:r>
            <a:r>
              <a:rPr lang="en-US" altLang="ko-KR" sz="14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glutamin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과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RONS 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반응은 못 찾음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– 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반응을 위해서는 효소나 촉매가 필요함</a:t>
            </a:r>
            <a:endParaRPr lang="en-US" altLang="ko-KR" sz="14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1CFD7-B875-04A7-802A-781BD115D0D3}"/>
              </a:ext>
            </a:extLst>
          </p:cNvPr>
          <p:cNvSpPr txBox="1"/>
          <p:nvPr/>
        </p:nvSpPr>
        <p:spPr>
          <a:xfrm>
            <a:off x="988380" y="3317025"/>
            <a:ext cx="7350005" cy="73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</a:pPr>
            <a:r>
              <a:rPr lang="en-US" altLang="ko-KR" sz="1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[L-Methionine] 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[3]</a:t>
            </a:r>
          </a:p>
          <a:p>
            <a:pPr marL="179393" indent="-179393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H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O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+ Methionine → Methionine sulfoxide (k = 2 ⅹ10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-2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M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-1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s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-1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EBC4C-9A4A-08B8-AF0B-39B30EBA694C}"/>
              </a:ext>
            </a:extLst>
          </p:cNvPr>
          <p:cNvSpPr txBox="1"/>
          <p:nvPr/>
        </p:nvSpPr>
        <p:spPr>
          <a:xfrm>
            <a:off x="0" y="6150114"/>
            <a:ext cx="37080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[1] Ramos-</a:t>
            </a:r>
            <a:r>
              <a:rPr lang="en-US" altLang="ko-KR" sz="1000" dirty="0" err="1"/>
              <a:t>Ibeas</a:t>
            </a:r>
            <a:r>
              <a:rPr lang="en-US" altLang="ko-KR" sz="1000" dirty="0"/>
              <a:t>, P. </a:t>
            </a:r>
            <a:r>
              <a:rPr lang="en-US" altLang="ko-KR" sz="1000" i="1" dirty="0"/>
              <a:t>et al., Mol. Cell. </a:t>
            </a:r>
            <a:r>
              <a:rPr lang="en-US" altLang="ko-KR" sz="1000" i="1" dirty="0" err="1"/>
              <a:t>Biochem</a:t>
            </a:r>
            <a:r>
              <a:rPr lang="en-US" altLang="ko-KR" sz="1000" i="1" dirty="0"/>
              <a:t>.</a:t>
            </a:r>
            <a:r>
              <a:rPr lang="en-US" altLang="ko-KR" sz="1000" dirty="0"/>
              <a:t> 2017,</a:t>
            </a:r>
            <a:r>
              <a:rPr lang="en-US" altLang="ko-KR" sz="1000" b="1" dirty="0"/>
              <a:t> 429</a:t>
            </a:r>
            <a:r>
              <a:rPr lang="en-US" altLang="ko-KR" sz="1000" dirty="0"/>
              <a:t>, 137-150</a:t>
            </a:r>
          </a:p>
          <a:p>
            <a:r>
              <a:rPr lang="en-US" altLang="ko-KR" sz="1000" dirty="0"/>
              <a:t>[2] </a:t>
            </a:r>
            <a:r>
              <a:rPr lang="en-US" altLang="ko-KR" sz="1000" dirty="0" err="1"/>
              <a:t>Babich</a:t>
            </a:r>
            <a:r>
              <a:rPr lang="en-US" altLang="ko-KR" sz="1000" dirty="0"/>
              <a:t>, H. </a:t>
            </a:r>
            <a:r>
              <a:rPr lang="en-US" altLang="ko-KR" sz="1000" i="1" dirty="0"/>
              <a:t>et al., In Vitro Cell. Dev. Biol. Anim.</a:t>
            </a:r>
            <a:r>
              <a:rPr lang="en-US" altLang="ko-KR" sz="1000" dirty="0"/>
              <a:t> 2009, </a:t>
            </a:r>
            <a:r>
              <a:rPr lang="en-US" altLang="ko-KR" sz="1000" b="1" dirty="0"/>
              <a:t>45</a:t>
            </a:r>
            <a:r>
              <a:rPr lang="en-US" altLang="ko-KR" sz="1000" dirty="0"/>
              <a:t>, 226-233 </a:t>
            </a:r>
          </a:p>
          <a:p>
            <a:r>
              <a:rPr lang="en-US" altLang="ko-KR" sz="1000" dirty="0"/>
              <a:t>[3] Park, J. </a:t>
            </a:r>
            <a:r>
              <a:rPr lang="en-US" altLang="ko-KR" sz="1000" i="1" dirty="0"/>
              <a:t>et al.,</a:t>
            </a:r>
            <a:r>
              <a:rPr lang="en-US" altLang="ko-KR" sz="1000" dirty="0"/>
              <a:t> </a:t>
            </a:r>
            <a:r>
              <a:rPr lang="en-US" altLang="ko-KR" sz="1000" i="1" dirty="0" err="1"/>
              <a:t>ChemistryOpen</a:t>
            </a:r>
            <a:r>
              <a:rPr lang="en-US" altLang="ko-KR" sz="1000" dirty="0"/>
              <a:t> 2024, e202300213 </a:t>
            </a:r>
          </a:p>
          <a:p>
            <a:r>
              <a:rPr lang="en-US" altLang="ko-KR" sz="1000" dirty="0"/>
              <a:t>[4] Luo, D. </a:t>
            </a:r>
            <a:r>
              <a:rPr lang="en-US" altLang="ko-KR" sz="1000" i="1" dirty="0"/>
              <a:t>et al.</a:t>
            </a:r>
            <a:r>
              <a:rPr lang="en-US" altLang="ko-KR" sz="1000" dirty="0"/>
              <a:t>, </a:t>
            </a:r>
            <a:r>
              <a:rPr lang="en-US" altLang="ko-KR" sz="1000" i="1" dirty="0"/>
              <a:t>J. Pharm. Sci.</a:t>
            </a:r>
            <a:r>
              <a:rPr lang="en-US" altLang="ko-KR" sz="1000" dirty="0"/>
              <a:t> 2005, </a:t>
            </a:r>
            <a:r>
              <a:rPr lang="en-US" altLang="ko-KR" sz="1000" b="1" dirty="0"/>
              <a:t>94</a:t>
            </a:r>
            <a:r>
              <a:rPr lang="en-US" altLang="ko-KR" sz="1000" dirty="0"/>
              <a:t>, 304-316</a:t>
            </a:r>
          </a:p>
        </p:txBody>
      </p:sp>
    </p:spTree>
    <p:extLst>
      <p:ext uri="{BB962C8B-B14F-4D97-AF65-F5344CB8AC3E}">
        <p14:creationId xmlns:p14="http://schemas.microsoft.com/office/powerpoint/2010/main" val="257234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961DC4-7AEC-BDC9-F79A-A0A5F981F263}"/>
              </a:ext>
            </a:extLst>
          </p:cNvPr>
          <p:cNvSpPr txBox="1"/>
          <p:nvPr/>
        </p:nvSpPr>
        <p:spPr>
          <a:xfrm>
            <a:off x="988380" y="1472131"/>
            <a:ext cx="10715940" cy="73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</a:pPr>
            <a:r>
              <a:rPr lang="en-US" altLang="ko-KR" sz="1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[Cystine-cysteine]</a:t>
            </a:r>
          </a:p>
          <a:p>
            <a:pPr marL="179393" indent="-179393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Cystine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과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cysteine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의 관계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– cystine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이 환원하여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2cysteine 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됨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, cysteine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이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H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O</a:t>
            </a:r>
            <a:r>
              <a:rPr lang="en-US" altLang="ko-KR" sz="1400" baseline="-25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2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와 반응함 </a:t>
            </a:r>
            <a:r>
              <a:rPr lang="en-US" altLang="ko-KR" sz="14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[4]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5DD4EA-9A30-ED6B-D388-8F7E18AD4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530" y="2358360"/>
            <a:ext cx="2555906" cy="15719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B2F2464-53E3-1555-8D38-BAED1A46E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050" y="2305176"/>
            <a:ext cx="2603905" cy="16019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B7A99-86E6-414B-E64B-19B1CB09920F}"/>
              </a:ext>
            </a:extLst>
          </p:cNvPr>
          <p:cNvSpPr txBox="1"/>
          <p:nvPr/>
        </p:nvSpPr>
        <p:spPr>
          <a:xfrm>
            <a:off x="783494" y="880114"/>
            <a:ext cx="987180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8" indent="-182568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DMEM + RONS</a:t>
            </a:r>
            <a:endParaRPr lang="ko-KR" altLang="en-US" sz="20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60EF8-59E6-8432-DE5C-EDAB884C1A8F}"/>
              </a:ext>
            </a:extLst>
          </p:cNvPr>
          <p:cNvSpPr txBox="1"/>
          <p:nvPr/>
        </p:nvSpPr>
        <p:spPr>
          <a:xfrm>
            <a:off x="988380" y="4091129"/>
            <a:ext cx="10496484" cy="1097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93" indent="-179393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Cystine 2HCl 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로 존재하는 이유</a:t>
            </a:r>
            <a:endParaRPr lang="en-US" altLang="ko-KR" sz="14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j-ea"/>
              <a:ea typeface="+mj-ea"/>
            </a:endParaRPr>
          </a:p>
          <a:p>
            <a:pPr marL="742950" lvl="1" indent="-285750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Tx/>
              <a:buChar char="-"/>
            </a:pP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화학적 안정성과 용해성 확보 목적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, cysteine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이 불용성이라 수용성을 높이고 안전하게 보존하기 위한 염 형태</a:t>
            </a:r>
            <a:endParaRPr lang="en-US" altLang="ko-KR" sz="14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j-ea"/>
              <a:ea typeface="+mj-ea"/>
            </a:endParaRPr>
          </a:p>
          <a:p>
            <a:pPr marL="742950" lvl="1" indent="-285750" latinLnBrk="0">
              <a:lnSpc>
                <a:spcPct val="150000"/>
              </a:lnSpc>
              <a:spcBef>
                <a:spcPts val="300"/>
              </a:spcBef>
              <a:buClr>
                <a:srgbClr val="505566">
                  <a:lumMod val="40000"/>
                  <a:lumOff val="60000"/>
                </a:srgbClr>
              </a:buClr>
              <a:buSzPct val="70000"/>
              <a:buFontTx/>
              <a:buChar char="-"/>
            </a:pP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Cystine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은 세포 내에서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cysteine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으로 환원 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- </a:t>
            </a:r>
            <a:r>
              <a:rPr lang="ko-KR" altLang="en-US" sz="14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생체∙배지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조건에서는 </a:t>
            </a:r>
            <a:r>
              <a:rPr lang="en-US" altLang="ko-KR" sz="14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Cystine↔cysteine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lang="ko-KR" altLang="en-US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rPr>
              <a:t>평형을 전제로 모델링 함</a:t>
            </a:r>
            <a:endParaRPr lang="en-US" altLang="ko-KR" sz="14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BD38B-37BF-B958-54CB-B66BCA1C0E24}"/>
              </a:ext>
            </a:extLst>
          </p:cNvPr>
          <p:cNvSpPr txBox="1"/>
          <p:nvPr/>
        </p:nvSpPr>
        <p:spPr>
          <a:xfrm>
            <a:off x="6433436" y="2452471"/>
            <a:ext cx="2170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가역</a:t>
            </a:r>
            <a:r>
              <a:rPr lang="en-US" altLang="ko-KR" sz="1400" b="1" dirty="0">
                <a:latin typeface="+mn-ea"/>
              </a:rPr>
              <a:t>] </a:t>
            </a:r>
            <a:r>
              <a:rPr lang="ko-KR" altLang="en-US" sz="1400" b="1" dirty="0">
                <a:latin typeface="+mn-ea"/>
              </a:rPr>
              <a:t>단순 산</a:t>
            </a:r>
            <a:r>
              <a:rPr lang="en-US" altLang="ko-KR" sz="1400" b="1" dirty="0">
                <a:latin typeface="+mn-ea"/>
              </a:rPr>
              <a:t>-</a:t>
            </a:r>
            <a:r>
              <a:rPr lang="ko-KR" altLang="en-US" sz="1400" b="1" dirty="0">
                <a:latin typeface="+mn-ea"/>
              </a:rPr>
              <a:t>염기 평형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AE37B-F32E-CDEA-5E47-5CF46BFC4049}"/>
              </a:ext>
            </a:extLst>
          </p:cNvPr>
          <p:cNvSpPr txBox="1"/>
          <p:nvPr/>
        </p:nvSpPr>
        <p:spPr>
          <a:xfrm>
            <a:off x="6433436" y="2816657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 err="1">
                <a:latin typeface="+mn-ea"/>
              </a:rPr>
              <a:t>비가역</a:t>
            </a:r>
            <a:r>
              <a:rPr lang="en-US" altLang="ko-KR" sz="1400" b="1" dirty="0">
                <a:latin typeface="+mn-ea"/>
              </a:rPr>
              <a:t>]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FFAB2-4CE7-E609-962E-B8329EBC53BE}"/>
              </a:ext>
            </a:extLst>
          </p:cNvPr>
          <p:cNvSpPr txBox="1"/>
          <p:nvPr/>
        </p:nvSpPr>
        <p:spPr>
          <a:xfrm>
            <a:off x="6433435" y="3210924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 err="1">
                <a:latin typeface="+mn-ea"/>
              </a:rPr>
              <a:t>비가역</a:t>
            </a:r>
            <a:r>
              <a:rPr lang="en-US" altLang="ko-KR" sz="1400" b="1" dirty="0">
                <a:latin typeface="+mn-ea"/>
              </a:rPr>
              <a:t>]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A8B8A-38E6-59C9-864F-F5B75A52C9D4}"/>
              </a:ext>
            </a:extLst>
          </p:cNvPr>
          <p:cNvSpPr txBox="1"/>
          <p:nvPr/>
        </p:nvSpPr>
        <p:spPr>
          <a:xfrm>
            <a:off x="0" y="6150114"/>
            <a:ext cx="37080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[1] Ramos-</a:t>
            </a:r>
            <a:r>
              <a:rPr lang="en-US" altLang="ko-KR" sz="1000" dirty="0" err="1"/>
              <a:t>Ibeas</a:t>
            </a:r>
            <a:r>
              <a:rPr lang="en-US" altLang="ko-KR" sz="1000" dirty="0"/>
              <a:t>, P. </a:t>
            </a:r>
            <a:r>
              <a:rPr lang="en-US" altLang="ko-KR" sz="1000" i="1" dirty="0"/>
              <a:t>et al., Mol. Cell. </a:t>
            </a:r>
            <a:r>
              <a:rPr lang="en-US" altLang="ko-KR" sz="1000" i="1" dirty="0" err="1"/>
              <a:t>Biochem</a:t>
            </a:r>
            <a:r>
              <a:rPr lang="en-US" altLang="ko-KR" sz="1000" i="1" dirty="0"/>
              <a:t>.</a:t>
            </a:r>
            <a:r>
              <a:rPr lang="en-US" altLang="ko-KR" sz="1000" dirty="0"/>
              <a:t> 2017,</a:t>
            </a:r>
            <a:r>
              <a:rPr lang="en-US" altLang="ko-KR" sz="1000" b="1" dirty="0"/>
              <a:t> 429</a:t>
            </a:r>
            <a:r>
              <a:rPr lang="en-US" altLang="ko-KR" sz="1000" dirty="0"/>
              <a:t>, 137-150</a:t>
            </a:r>
          </a:p>
          <a:p>
            <a:r>
              <a:rPr lang="en-US" altLang="ko-KR" sz="1000" dirty="0"/>
              <a:t>[2] </a:t>
            </a:r>
            <a:r>
              <a:rPr lang="en-US" altLang="ko-KR" sz="1000" dirty="0" err="1"/>
              <a:t>Babich</a:t>
            </a:r>
            <a:r>
              <a:rPr lang="en-US" altLang="ko-KR" sz="1000" dirty="0"/>
              <a:t>, H. </a:t>
            </a:r>
            <a:r>
              <a:rPr lang="en-US" altLang="ko-KR" sz="1000" i="1" dirty="0"/>
              <a:t>et al., In Vitro Cell. Dev. Biol. Anim.</a:t>
            </a:r>
            <a:r>
              <a:rPr lang="en-US" altLang="ko-KR" sz="1000" dirty="0"/>
              <a:t> 2009, </a:t>
            </a:r>
            <a:r>
              <a:rPr lang="en-US" altLang="ko-KR" sz="1000" b="1" dirty="0"/>
              <a:t>45</a:t>
            </a:r>
            <a:r>
              <a:rPr lang="en-US" altLang="ko-KR" sz="1000" dirty="0"/>
              <a:t>, 226-233 </a:t>
            </a:r>
          </a:p>
          <a:p>
            <a:r>
              <a:rPr lang="en-US" altLang="ko-KR" sz="1000" dirty="0"/>
              <a:t>[3] Park, J. </a:t>
            </a:r>
            <a:r>
              <a:rPr lang="en-US" altLang="ko-KR" sz="1000" i="1" dirty="0"/>
              <a:t>et al.,</a:t>
            </a:r>
            <a:r>
              <a:rPr lang="en-US" altLang="ko-KR" sz="1000" dirty="0"/>
              <a:t> </a:t>
            </a:r>
            <a:r>
              <a:rPr lang="en-US" altLang="ko-KR" sz="1000" i="1" dirty="0" err="1"/>
              <a:t>ChemistryOpen</a:t>
            </a:r>
            <a:r>
              <a:rPr lang="en-US" altLang="ko-KR" sz="1000" dirty="0"/>
              <a:t> 2024, e202300213 </a:t>
            </a:r>
          </a:p>
          <a:p>
            <a:r>
              <a:rPr lang="en-US" altLang="ko-KR" sz="1000" dirty="0"/>
              <a:t>[4] Luo, D. </a:t>
            </a:r>
            <a:r>
              <a:rPr lang="en-US" altLang="ko-KR" sz="1000" i="1" dirty="0"/>
              <a:t>et al.</a:t>
            </a:r>
            <a:r>
              <a:rPr lang="en-US" altLang="ko-KR" sz="1000" dirty="0"/>
              <a:t>, </a:t>
            </a:r>
            <a:r>
              <a:rPr lang="en-US" altLang="ko-KR" sz="1000" i="1" dirty="0"/>
              <a:t>J. Pharm. Sci.</a:t>
            </a:r>
            <a:r>
              <a:rPr lang="en-US" altLang="ko-KR" sz="1000" dirty="0"/>
              <a:t> 2005, </a:t>
            </a:r>
            <a:r>
              <a:rPr lang="en-US" altLang="ko-KR" sz="1000" b="1" dirty="0"/>
              <a:t>94</a:t>
            </a:r>
            <a:r>
              <a:rPr lang="en-US" altLang="ko-KR" sz="1000" dirty="0"/>
              <a:t>, 304-316</a:t>
            </a:r>
          </a:p>
        </p:txBody>
      </p:sp>
      <p:sp>
        <p:nvSpPr>
          <p:cNvPr id="12" name="내용 개체 틀 13">
            <a:extLst>
              <a:ext uri="{FF2B5EF4-FFF2-40B4-BE49-F238E27FC236}">
                <a16:creationId xmlns:a16="http://schemas.microsoft.com/office/drawing/2014/main" id="{9F010F6C-A7DE-8B25-F284-AEDA6D324B00}"/>
              </a:ext>
            </a:extLst>
          </p:cNvPr>
          <p:cNvSpPr txBox="1">
            <a:spLocks/>
          </p:cNvSpPr>
          <p:nvPr/>
        </p:nvSpPr>
        <p:spPr>
          <a:xfrm>
            <a:off x="680994" y="392945"/>
            <a:ext cx="7206747" cy="389646"/>
          </a:xfrm>
          <a:prstGeom prst="rect">
            <a:avLst/>
          </a:prstGeom>
        </p:spPr>
        <p:txBody>
          <a:bodyPr vert="horz" lIns="81644" tIns="0" rIns="0" bIns="0" rtlCol="0" anchor="ctr" anchorCtr="0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2000" b="1" kern="1200" spc="-110" baseline="0">
                <a:ln w="3175" cap="rnd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14" spc="-136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DMEM </a:t>
            </a:r>
            <a:r>
              <a:rPr lang="ko-KR" altLang="en-US" sz="1814" spc="-136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관련 반응</a:t>
            </a:r>
          </a:p>
        </p:txBody>
      </p:sp>
    </p:spTree>
    <p:extLst>
      <p:ext uri="{BB962C8B-B14F-4D97-AF65-F5344CB8AC3E}">
        <p14:creationId xmlns:p14="http://schemas.microsoft.com/office/powerpoint/2010/main" val="171648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357</Words>
  <Application>Microsoft Office PowerPoint</Application>
  <PresentationFormat>와이드스크린</PresentationFormat>
  <Paragraphs>30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Pretendard ExtraBold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</dc:creator>
  <cp:lastModifiedBy>JY</cp:lastModifiedBy>
  <cp:revision>6</cp:revision>
  <dcterms:created xsi:type="dcterms:W3CDTF">2026-04-29T08:21:40Z</dcterms:created>
  <dcterms:modified xsi:type="dcterms:W3CDTF">2026-04-29T09:24:01Z</dcterms:modified>
</cp:coreProperties>
</file>